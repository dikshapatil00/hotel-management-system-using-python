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843" y="-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2807671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4076084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2371834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C2E2F2-D507-448D-8C60-12A7A1640A0A}"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794964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C2E2F2-D507-448D-8C60-12A7A1640A0A}"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3141074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C2E2F2-D507-448D-8C60-12A7A1640A0A}"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4028820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C2E2F2-D507-448D-8C60-12A7A1640A0A}"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883270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C2E2F2-D507-448D-8C60-12A7A1640A0A}"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3510632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C2E2F2-D507-448D-8C60-12A7A1640A0A}"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929866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2824559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318544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C2E2F2-D507-448D-8C60-12A7A1640A0A}" type="datetimeFigureOut">
              <a:rPr lang="en-IN" smtClean="0"/>
              <a:t>14-10-2025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332006-3CDE-49EB-ACC1-4AEE1548F6CD}" type="slidenum">
              <a:rPr lang="en-IN" smtClean="0"/>
              <a:t>‹#›</a:t>
            </a:fld>
            <a:endParaRPr lang="en-IN"/>
          </a:p>
        </p:txBody>
      </p:sp>
    </p:spTree>
    <p:extLst>
      <p:ext uri="{BB962C8B-B14F-4D97-AF65-F5344CB8AC3E}">
        <p14:creationId xmlns:p14="http://schemas.microsoft.com/office/powerpoint/2010/main" val="42131405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0A0B-484C-A735-6C70-D5D0FDDD8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42249-84F7-C67C-5E51-B3075E384BD7}"/>
              </a:ext>
            </a:extLst>
          </p:cNvPr>
          <p:cNvSpPr>
            <a:spLocks noGrp="1"/>
          </p:cNvSpPr>
          <p:nvPr>
            <p:ph type="ctrTitle"/>
          </p:nvPr>
        </p:nvSpPr>
        <p:spPr>
          <a:xfrm>
            <a:off x="5242811" y="3255783"/>
            <a:ext cx="9144000" cy="2387600"/>
          </a:xfrm>
        </p:spPr>
        <p:txBody>
          <a:bodyPr>
            <a:normAutofit/>
          </a:bodyPr>
          <a:lstStyle/>
          <a:p>
            <a:pPr algn="l"/>
            <a:r>
              <a:rPr lang="en-US" sz="1400" dirty="0">
                <a:latin typeface="Calisto MT" panose="02040603050505030304" pitchFamily="18" charset="0"/>
              </a:rPr>
              <a:t>Diksha </a:t>
            </a:r>
            <a:r>
              <a:rPr lang="en-US" sz="1400" dirty="0" err="1">
                <a:latin typeface="Calisto MT" panose="02040603050505030304" pitchFamily="18" charset="0"/>
              </a:rPr>
              <a:t>patil</a:t>
            </a:r>
            <a:br>
              <a:rPr lang="en-US" sz="1400" dirty="0">
                <a:latin typeface="Calisto MT" panose="02040603050505030304" pitchFamily="18" charset="0"/>
              </a:rPr>
            </a:br>
            <a:br>
              <a:rPr lang="en-US" sz="1400" dirty="0">
                <a:latin typeface="Calisto MT" panose="02040603050505030304" pitchFamily="18" charset="0"/>
              </a:rPr>
            </a:br>
            <a:r>
              <a:rPr lang="en-US" sz="1400" dirty="0">
                <a:latin typeface="Calisto MT" panose="02040603050505030304" pitchFamily="18" charset="0"/>
              </a:rPr>
              <a:t>Roll no : CC29</a:t>
            </a:r>
            <a:endParaRPr lang="en-IN" sz="1400" dirty="0">
              <a:latin typeface="Calisto MT" panose="02040603050505030304" pitchFamily="18" charset="0"/>
            </a:endParaRPr>
          </a:p>
        </p:txBody>
      </p:sp>
      <p:sp>
        <p:nvSpPr>
          <p:cNvPr id="3" name="Subtitle 2">
            <a:extLst>
              <a:ext uri="{FF2B5EF4-FFF2-40B4-BE49-F238E27FC236}">
                <a16:creationId xmlns:a16="http://schemas.microsoft.com/office/drawing/2014/main" id="{094008E4-6A8A-458C-23CC-65F0177EEDB4}"/>
              </a:ext>
            </a:extLst>
          </p:cNvPr>
          <p:cNvSpPr>
            <a:spLocks noGrp="1"/>
          </p:cNvSpPr>
          <p:nvPr>
            <p:ph type="subTitle" idx="1"/>
          </p:nvPr>
        </p:nvSpPr>
        <p:spPr>
          <a:xfrm>
            <a:off x="1809135" y="1383308"/>
            <a:ext cx="9144000" cy="1655762"/>
          </a:xfrm>
        </p:spPr>
        <p:txBody>
          <a:bodyPr/>
          <a:lstStyle/>
          <a:p>
            <a:r>
              <a:rPr lang="en-US" dirty="0">
                <a:latin typeface="Calisto MT" panose="02040603050505030304" pitchFamily="18" charset="0"/>
              </a:rPr>
              <a:t>   </a:t>
            </a:r>
            <a:endParaRPr lang="en-IN" sz="1600" dirty="0">
              <a:latin typeface="Calisto MT" panose="02040603050505030304" pitchFamily="18" charset="0"/>
            </a:endParaRPr>
          </a:p>
        </p:txBody>
      </p:sp>
      <p:sp>
        <p:nvSpPr>
          <p:cNvPr id="4" name="Title 1">
            <a:extLst>
              <a:ext uri="{FF2B5EF4-FFF2-40B4-BE49-F238E27FC236}">
                <a16:creationId xmlns:a16="http://schemas.microsoft.com/office/drawing/2014/main" id="{E539713C-11E8-E953-C9BE-6DD80385762C}"/>
              </a:ext>
            </a:extLst>
          </p:cNvPr>
          <p:cNvSpPr txBox="1">
            <a:spLocks/>
          </p:cNvSpPr>
          <p:nvPr/>
        </p:nvSpPr>
        <p:spPr>
          <a:xfrm>
            <a:off x="1359068" y="723004"/>
            <a:ext cx="9144000" cy="410119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u="sng" dirty="0">
                <a:latin typeface="Calisto MT" panose="02040603050505030304" pitchFamily="18" charset="0"/>
              </a:rPr>
              <a:t>HOTEL</a:t>
            </a:r>
          </a:p>
          <a:p>
            <a:r>
              <a:rPr lang="en-US" sz="4000" b="1" u="sng" dirty="0">
                <a:latin typeface="Calisto MT" panose="02040603050505030304" pitchFamily="18" charset="0"/>
              </a:rPr>
              <a:t> </a:t>
            </a:r>
            <a:br>
              <a:rPr lang="en-US" sz="4000" b="1" u="sng" dirty="0">
                <a:latin typeface="Calisto MT" panose="02040603050505030304" pitchFamily="18" charset="0"/>
              </a:rPr>
            </a:br>
            <a:r>
              <a:rPr lang="en-US" sz="4000" b="1" u="sng" dirty="0">
                <a:latin typeface="Calisto MT" panose="02040603050505030304" pitchFamily="18" charset="0"/>
              </a:rPr>
              <a:t>MANAGEMENT</a:t>
            </a:r>
          </a:p>
          <a:p>
            <a:r>
              <a:rPr lang="en-US" sz="4000" b="1" u="sng" dirty="0">
                <a:latin typeface="Calisto MT" panose="02040603050505030304" pitchFamily="18" charset="0"/>
              </a:rPr>
              <a:t> </a:t>
            </a:r>
            <a:br>
              <a:rPr lang="en-US" sz="4000" b="1" u="sng" dirty="0">
                <a:latin typeface="Calisto MT" panose="02040603050505030304" pitchFamily="18" charset="0"/>
              </a:rPr>
            </a:br>
            <a:r>
              <a:rPr lang="en-US" sz="4000" b="1" u="sng" dirty="0">
                <a:latin typeface="Calisto MT" panose="02040603050505030304" pitchFamily="18" charset="0"/>
              </a:rPr>
              <a:t>SYSTEM</a:t>
            </a:r>
          </a:p>
          <a:p>
            <a:r>
              <a:rPr lang="en-US" sz="4000" b="1" u="sng" dirty="0">
                <a:latin typeface="Calisto MT" panose="02040603050505030304" pitchFamily="18" charset="0"/>
              </a:rPr>
              <a:t> </a:t>
            </a:r>
            <a:br>
              <a:rPr lang="en-US" sz="4000" b="1" u="sng" dirty="0">
                <a:latin typeface="Calisto MT" panose="02040603050505030304" pitchFamily="18" charset="0"/>
              </a:rPr>
            </a:br>
            <a:r>
              <a:rPr lang="en-US" sz="4000" b="1" u="sng" dirty="0">
                <a:latin typeface="Calisto MT" panose="02040603050505030304" pitchFamily="18" charset="0"/>
              </a:rPr>
              <a:t>USING PYTHON</a:t>
            </a:r>
            <a:endParaRPr lang="en-IN" sz="4000" b="1" u="sng" dirty="0">
              <a:latin typeface="Calisto MT" panose="02040603050505030304" pitchFamily="18" charset="0"/>
            </a:endParaRPr>
          </a:p>
        </p:txBody>
      </p:sp>
    </p:spTree>
    <p:extLst>
      <p:ext uri="{BB962C8B-B14F-4D97-AF65-F5344CB8AC3E}">
        <p14:creationId xmlns:p14="http://schemas.microsoft.com/office/powerpoint/2010/main" val="2074423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7F08427-7803-72E3-30B1-5DD6258FA6DD}"/>
              </a:ext>
            </a:extLst>
          </p:cNvPr>
          <p:cNvSpPr>
            <a:spLocks noGrp="1"/>
          </p:cNvSpPr>
          <p:nvPr>
            <p:ph type="ctrTitle"/>
          </p:nvPr>
        </p:nvSpPr>
        <p:spPr>
          <a:xfrm>
            <a:off x="702845" y="291402"/>
            <a:ext cx="4011561" cy="735996"/>
          </a:xfrm>
        </p:spPr>
        <p:txBody>
          <a:bodyPr>
            <a:normAutofit/>
          </a:bodyPr>
          <a:lstStyle/>
          <a:p>
            <a:r>
              <a:rPr lang="en-US" sz="3600" b="1" dirty="0">
                <a:latin typeface="Calisto MT" panose="02040603050505030304" pitchFamily="18" charset="0"/>
              </a:rPr>
              <a:t>Abstract</a:t>
            </a:r>
            <a:endParaRPr lang="en-IN" sz="3600" b="1" dirty="0">
              <a:latin typeface="Calisto MT" panose="02040603050505030304" pitchFamily="18" charset="0"/>
            </a:endParaRPr>
          </a:p>
        </p:txBody>
      </p:sp>
      <p:sp>
        <p:nvSpPr>
          <p:cNvPr id="3" name="Subtitle 2">
            <a:extLst>
              <a:ext uri="{FF2B5EF4-FFF2-40B4-BE49-F238E27FC236}">
                <a16:creationId xmlns:a16="http://schemas.microsoft.com/office/drawing/2014/main" id="{FACE4811-9CB9-F138-1933-E9AB7A483D20}"/>
              </a:ext>
            </a:extLst>
          </p:cNvPr>
          <p:cNvSpPr>
            <a:spLocks noGrp="1"/>
          </p:cNvSpPr>
          <p:nvPr>
            <p:ph type="subTitle" idx="1"/>
          </p:nvPr>
        </p:nvSpPr>
        <p:spPr>
          <a:xfrm>
            <a:off x="6628725" y="3710084"/>
            <a:ext cx="5193485" cy="2031325"/>
          </a:xfrm>
        </p:spPr>
        <p:txBody>
          <a:bodyPr>
            <a:noAutofit/>
          </a:bodyPr>
          <a:lstStyle/>
          <a:p>
            <a:pPr algn="l"/>
            <a:r>
              <a:rPr lang="en-US" sz="1800" dirty="0">
                <a:latin typeface="+mj-lt"/>
              </a:rPr>
              <a:t>In today’s digital world, managing a hotel manually is time-consuming and can cause errors. This project automates key hotel tasks like room booking, customer record keeping, payment processing, and restaurant order management. Built with Python, the system provides an easy-to-use web interface for staff to manage all operations efficiently.</a:t>
            </a:r>
            <a:endParaRPr lang="en-IN" sz="1800" dirty="0">
              <a:latin typeface="+mj-lt"/>
            </a:endParaRPr>
          </a:p>
        </p:txBody>
      </p:sp>
      <p:sp>
        <p:nvSpPr>
          <p:cNvPr id="6" name="Freeform: Shape 5">
            <a:extLst>
              <a:ext uri="{FF2B5EF4-FFF2-40B4-BE49-F238E27FC236}">
                <a16:creationId xmlns:a16="http://schemas.microsoft.com/office/drawing/2014/main" id="{0333D9E6-CD7B-74AC-18F5-340CDCCE9452}"/>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2D286C50-C200-A950-20DF-0BB206CBD7CF}"/>
              </a:ext>
            </a:extLst>
          </p:cNvPr>
          <p:cNvSpPr txBox="1"/>
          <p:nvPr/>
        </p:nvSpPr>
        <p:spPr>
          <a:xfrm>
            <a:off x="376814" y="1312939"/>
            <a:ext cx="6251911" cy="2585323"/>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The Hotel Management System is a simple Python project made to handle hotel work easily.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It helps to manage room bookings, restaurant orders, payments, and customer records in one place.</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The system provides an easy-to-use web interface that saves time, reduces mistakes, and makes hotel management faster and smoother.</a:t>
            </a:r>
            <a:endParaRPr lang="en-IN" dirty="0">
              <a:latin typeface="+mj-lt"/>
            </a:endParaRPr>
          </a:p>
        </p:txBody>
      </p:sp>
      <p:sp>
        <p:nvSpPr>
          <p:cNvPr id="17" name="TextBox 16">
            <a:extLst>
              <a:ext uri="{FF2B5EF4-FFF2-40B4-BE49-F238E27FC236}">
                <a16:creationId xmlns:a16="http://schemas.microsoft.com/office/drawing/2014/main" id="{ED21293D-215F-2ECE-2224-2DF39FCB907B}"/>
              </a:ext>
            </a:extLst>
          </p:cNvPr>
          <p:cNvSpPr txBox="1"/>
          <p:nvPr/>
        </p:nvSpPr>
        <p:spPr>
          <a:xfrm>
            <a:off x="7812593" y="2782669"/>
            <a:ext cx="3009481" cy="646331"/>
          </a:xfrm>
          <a:prstGeom prst="rect">
            <a:avLst/>
          </a:prstGeom>
          <a:noFill/>
        </p:spPr>
        <p:txBody>
          <a:bodyPr wrap="square">
            <a:spAutoFit/>
          </a:bodyPr>
          <a:lstStyle/>
          <a:p>
            <a:r>
              <a:rPr lang="en-US" sz="3600" b="1" dirty="0">
                <a:latin typeface="Calisto MT" panose="02040603050505030304" pitchFamily="18" charset="0"/>
              </a:rPr>
              <a:t>Introduction</a:t>
            </a:r>
            <a:endParaRPr lang="en-IN" sz="3600" b="1" dirty="0"/>
          </a:p>
        </p:txBody>
      </p:sp>
    </p:spTree>
    <p:extLst>
      <p:ext uri="{BB962C8B-B14F-4D97-AF65-F5344CB8AC3E}">
        <p14:creationId xmlns:p14="http://schemas.microsoft.com/office/powerpoint/2010/main" val="3866296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A6747-5B8C-94D8-9C82-1822D603290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430C2EA-C18A-F351-6EF9-B0D9B76F5A38}"/>
              </a:ext>
            </a:extLst>
          </p:cNvPr>
          <p:cNvSpPr>
            <a:spLocks noGrp="1"/>
          </p:cNvSpPr>
          <p:nvPr>
            <p:ph type="ctrTitle"/>
          </p:nvPr>
        </p:nvSpPr>
        <p:spPr>
          <a:xfrm>
            <a:off x="753079" y="90436"/>
            <a:ext cx="4011561" cy="735996"/>
          </a:xfrm>
        </p:spPr>
        <p:txBody>
          <a:bodyPr>
            <a:normAutofit fontScale="90000"/>
          </a:bodyPr>
          <a:lstStyle/>
          <a:p>
            <a:r>
              <a:rPr lang="en-US" sz="3600" b="1" dirty="0">
                <a:latin typeface="Calisto MT" panose="02040603050505030304" pitchFamily="18" charset="0"/>
              </a:rPr>
              <a:t>Problem Definition</a:t>
            </a:r>
            <a:endParaRPr lang="en-IN" sz="3600" b="1" dirty="0">
              <a:latin typeface="Calisto MT" panose="02040603050505030304" pitchFamily="18" charset="0"/>
            </a:endParaRPr>
          </a:p>
        </p:txBody>
      </p:sp>
      <p:sp>
        <p:nvSpPr>
          <p:cNvPr id="3" name="Subtitle 2">
            <a:extLst>
              <a:ext uri="{FF2B5EF4-FFF2-40B4-BE49-F238E27FC236}">
                <a16:creationId xmlns:a16="http://schemas.microsoft.com/office/drawing/2014/main" id="{A1FBB2C0-0253-CEE2-1A80-3902D6B43181}"/>
              </a:ext>
            </a:extLst>
          </p:cNvPr>
          <p:cNvSpPr>
            <a:spLocks noGrp="1"/>
          </p:cNvSpPr>
          <p:nvPr>
            <p:ph type="subTitle" idx="1"/>
          </p:nvPr>
        </p:nvSpPr>
        <p:spPr>
          <a:xfrm>
            <a:off x="6628725" y="3780423"/>
            <a:ext cx="5193485" cy="2031325"/>
          </a:xfrm>
        </p:spPr>
        <p:txBody>
          <a:bodyPr>
            <a:noAutofit/>
          </a:bodyPr>
          <a:lstStyle/>
          <a:p>
            <a:pPr algn="l"/>
            <a:r>
              <a:rPr lang="en-US" sz="1800" dirty="0">
                <a:latin typeface="+mj-lt"/>
              </a:rPr>
              <a:t>•  To reduce manual work and paperwork.	</a:t>
            </a:r>
          </a:p>
          <a:p>
            <a:pPr algn="l"/>
            <a:r>
              <a:rPr lang="en-US" sz="1800" dirty="0">
                <a:latin typeface="+mj-lt"/>
              </a:rPr>
              <a:t>•  To maintain accurate and organized customer data.</a:t>
            </a:r>
          </a:p>
          <a:p>
            <a:pPr algn="l"/>
            <a:r>
              <a:rPr lang="en-US" sz="1800" dirty="0">
                <a:latin typeface="+mj-lt"/>
              </a:rPr>
              <a:t>•  To provide faster booking and billing processes.	</a:t>
            </a:r>
          </a:p>
          <a:p>
            <a:pPr algn="l"/>
            <a:r>
              <a:rPr lang="en-US" sz="1800" dirty="0">
                <a:latin typeface="+mj-lt"/>
              </a:rPr>
              <a:t>•  To improve customer service and staff efficiency.</a:t>
            </a:r>
          </a:p>
          <a:p>
            <a:pPr algn="l"/>
            <a:r>
              <a:rPr lang="en-US" sz="1800" dirty="0">
                <a:latin typeface="+mj-lt"/>
              </a:rPr>
              <a:t>•  To ensure easy access and retrieval of hotel records.</a:t>
            </a:r>
            <a:endParaRPr lang="en-IN" sz="1800" dirty="0">
              <a:latin typeface="+mj-lt"/>
            </a:endParaRPr>
          </a:p>
        </p:txBody>
      </p:sp>
      <p:sp>
        <p:nvSpPr>
          <p:cNvPr id="6" name="Freeform: Shape 5">
            <a:extLst>
              <a:ext uri="{FF2B5EF4-FFF2-40B4-BE49-F238E27FC236}">
                <a16:creationId xmlns:a16="http://schemas.microsoft.com/office/drawing/2014/main" id="{F99AF9FC-D2E4-29B1-CCBB-F43E306DEBF0}"/>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18FF2CB0-FDF8-2DF5-9D32-988732AE89E8}"/>
              </a:ext>
            </a:extLst>
          </p:cNvPr>
          <p:cNvSpPr txBox="1"/>
          <p:nvPr/>
        </p:nvSpPr>
        <p:spPr>
          <a:xfrm>
            <a:off x="366766" y="1091872"/>
            <a:ext cx="5983792" cy="3139321"/>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Manual hotel management is time-consuming.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Keeping records by hand can lead to errors and mistakes.	</a:t>
            </a:r>
          </a:p>
          <a:p>
            <a:pPr marL="285750" indent="-285750">
              <a:buFont typeface="Arial" panose="020B0604020202020204" pitchFamily="34" charset="0"/>
              <a:buChar char="•"/>
            </a:pPr>
            <a:r>
              <a:rPr lang="en-US" dirty="0">
                <a:latin typeface="+mj-lt"/>
              </a:rPr>
              <a:t>Billing and payment processes are slow and inefficient.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No centralized system exists to manage all hotel operations.</a:t>
            </a:r>
          </a:p>
          <a:p>
            <a:r>
              <a:rPr lang="en-US" dirty="0">
                <a:latin typeface="+mj-lt"/>
              </a:rPr>
              <a:t>	</a:t>
            </a:r>
          </a:p>
          <a:p>
            <a:pPr marL="285750" indent="-285750">
              <a:buFont typeface="Arial" panose="020B0604020202020204" pitchFamily="34" charset="0"/>
              <a:buChar char="•"/>
            </a:pPr>
            <a:r>
              <a:rPr lang="en-US" dirty="0">
                <a:latin typeface="+mj-lt"/>
              </a:rPr>
              <a:t>Difficult to track room availability and restaurant orders manually.</a:t>
            </a:r>
          </a:p>
          <a:p>
            <a:pPr marL="285750" indent="-285750">
              <a:buFont typeface="Arial" panose="020B0604020202020204" pitchFamily="34" charset="0"/>
              <a:buChar char="•"/>
            </a:pPr>
            <a:endParaRPr lang="en-IN" dirty="0">
              <a:latin typeface="+mj-lt"/>
            </a:endParaRPr>
          </a:p>
        </p:txBody>
      </p:sp>
      <p:sp>
        <p:nvSpPr>
          <p:cNvPr id="17" name="TextBox 16">
            <a:extLst>
              <a:ext uri="{FF2B5EF4-FFF2-40B4-BE49-F238E27FC236}">
                <a16:creationId xmlns:a16="http://schemas.microsoft.com/office/drawing/2014/main" id="{A7911F08-665C-8E02-0686-C8407B182C32}"/>
              </a:ext>
            </a:extLst>
          </p:cNvPr>
          <p:cNvSpPr txBox="1"/>
          <p:nvPr/>
        </p:nvSpPr>
        <p:spPr>
          <a:xfrm>
            <a:off x="7146906" y="2855528"/>
            <a:ext cx="3722914" cy="584775"/>
          </a:xfrm>
          <a:prstGeom prst="rect">
            <a:avLst/>
          </a:prstGeom>
          <a:noFill/>
        </p:spPr>
        <p:txBody>
          <a:bodyPr wrap="square">
            <a:spAutoFit/>
          </a:bodyPr>
          <a:lstStyle/>
          <a:p>
            <a:r>
              <a:rPr lang="en-US" sz="3200" b="1" dirty="0">
                <a:latin typeface="Calisto MT" panose="02040603050505030304" pitchFamily="18" charset="0"/>
              </a:rPr>
              <a:t>Need of the System</a:t>
            </a:r>
            <a:endParaRPr lang="en-IN" sz="3200" b="1" dirty="0"/>
          </a:p>
        </p:txBody>
      </p:sp>
    </p:spTree>
    <p:extLst>
      <p:ext uri="{BB962C8B-B14F-4D97-AF65-F5344CB8AC3E}">
        <p14:creationId xmlns:p14="http://schemas.microsoft.com/office/powerpoint/2010/main" val="89056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25DD7-1B7E-0842-D40B-9F23F5A856B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7A74A6B1-2750-1FA9-C43F-3231F6C49FBA}"/>
              </a:ext>
            </a:extLst>
          </p:cNvPr>
          <p:cNvSpPr>
            <a:spLocks noGrp="1"/>
          </p:cNvSpPr>
          <p:nvPr>
            <p:ph type="ctrTitle"/>
          </p:nvPr>
        </p:nvSpPr>
        <p:spPr>
          <a:xfrm>
            <a:off x="1134922" y="90436"/>
            <a:ext cx="4011561" cy="735996"/>
          </a:xfrm>
        </p:spPr>
        <p:txBody>
          <a:bodyPr>
            <a:normAutofit/>
          </a:bodyPr>
          <a:lstStyle/>
          <a:p>
            <a:r>
              <a:rPr lang="en-US" sz="3200" b="1" dirty="0">
                <a:latin typeface="Calisto MT" panose="02040603050505030304" pitchFamily="18" charset="0"/>
              </a:rPr>
              <a:t>Objective</a:t>
            </a:r>
            <a:endParaRPr lang="en-IN" sz="3200" b="1" dirty="0">
              <a:latin typeface="Calisto MT" panose="02040603050505030304" pitchFamily="18" charset="0"/>
            </a:endParaRPr>
          </a:p>
        </p:txBody>
      </p:sp>
      <p:sp>
        <p:nvSpPr>
          <p:cNvPr id="3" name="Subtitle 2">
            <a:extLst>
              <a:ext uri="{FF2B5EF4-FFF2-40B4-BE49-F238E27FC236}">
                <a16:creationId xmlns:a16="http://schemas.microsoft.com/office/drawing/2014/main" id="{A1E980D2-25A4-9855-B204-D686F401E24E}"/>
              </a:ext>
            </a:extLst>
          </p:cNvPr>
          <p:cNvSpPr>
            <a:spLocks noGrp="1"/>
          </p:cNvSpPr>
          <p:nvPr>
            <p:ph type="subTitle" idx="1"/>
          </p:nvPr>
        </p:nvSpPr>
        <p:spPr>
          <a:xfrm>
            <a:off x="6799541" y="4051724"/>
            <a:ext cx="5193485" cy="2031325"/>
          </a:xfrm>
        </p:spPr>
        <p:txBody>
          <a:bodyPr>
            <a:noAutofit/>
          </a:bodyPr>
          <a:lstStyle/>
          <a:p>
            <a:pPr algn="l"/>
            <a:r>
              <a:rPr lang="en-US" sz="1800" dirty="0">
                <a:latin typeface="+mj-lt"/>
              </a:rPr>
              <a:t>The system is ideal for small and medium-sized hotels or lodges. It can be used for maintaining room availability, customer details, food orders, and payments. The project can be further enhanced by adding features like online booking, invoice generation, and login authentication. </a:t>
            </a:r>
            <a:endParaRPr lang="en-IN" sz="1800" dirty="0">
              <a:latin typeface="+mj-lt"/>
            </a:endParaRPr>
          </a:p>
        </p:txBody>
      </p:sp>
      <p:sp>
        <p:nvSpPr>
          <p:cNvPr id="6" name="Freeform: Shape 5">
            <a:extLst>
              <a:ext uri="{FF2B5EF4-FFF2-40B4-BE49-F238E27FC236}">
                <a16:creationId xmlns:a16="http://schemas.microsoft.com/office/drawing/2014/main" id="{378C7EAB-00DC-B683-57A3-84C81C9D2C5D}"/>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6CDF15C-5D07-7D86-E89B-9442E39D07AD}"/>
              </a:ext>
            </a:extLst>
          </p:cNvPr>
          <p:cNvSpPr txBox="1"/>
          <p:nvPr/>
        </p:nvSpPr>
        <p:spPr>
          <a:xfrm>
            <a:off x="366766" y="1051680"/>
            <a:ext cx="7400610" cy="2585323"/>
          </a:xfrm>
          <a:prstGeom prst="rect">
            <a:avLst/>
          </a:prstGeom>
          <a:noFill/>
        </p:spPr>
        <p:txBody>
          <a:bodyPr wrap="square">
            <a:spAutoFit/>
          </a:bodyPr>
          <a:lstStyle/>
          <a:p>
            <a:r>
              <a:rPr lang="en-US" dirty="0">
                <a:latin typeface="+mj-lt"/>
              </a:rPr>
              <a:t>•  To develop a simple and interactive hotel management web application.</a:t>
            </a:r>
          </a:p>
          <a:p>
            <a:r>
              <a:rPr lang="en-US" dirty="0">
                <a:latin typeface="+mj-lt"/>
              </a:rPr>
              <a:t>	</a:t>
            </a:r>
          </a:p>
          <a:p>
            <a:r>
              <a:rPr lang="en-US" dirty="0">
                <a:latin typeface="+mj-lt"/>
              </a:rPr>
              <a:t>•  To manage room bookings, restaurant orders, and payments digitally.	</a:t>
            </a:r>
          </a:p>
          <a:p>
            <a:endParaRPr lang="en-US" dirty="0">
              <a:latin typeface="+mj-lt"/>
            </a:endParaRPr>
          </a:p>
          <a:p>
            <a:r>
              <a:rPr lang="en-US" dirty="0">
                <a:latin typeface="+mj-lt"/>
              </a:rPr>
              <a:t>•  To store customer details and records in a database securely.	</a:t>
            </a:r>
          </a:p>
          <a:p>
            <a:endParaRPr lang="en-US" dirty="0">
              <a:latin typeface="+mj-lt"/>
            </a:endParaRPr>
          </a:p>
          <a:p>
            <a:r>
              <a:rPr lang="en-US" dirty="0">
                <a:latin typeface="+mj-lt"/>
              </a:rPr>
              <a:t>•  To reduce human errors and improve operational speed.</a:t>
            </a:r>
          </a:p>
          <a:p>
            <a:r>
              <a:rPr lang="en-US" dirty="0">
                <a:latin typeface="+mj-lt"/>
              </a:rPr>
              <a:t>	</a:t>
            </a:r>
          </a:p>
          <a:p>
            <a:r>
              <a:rPr lang="en-US" dirty="0">
                <a:latin typeface="+mj-lt"/>
              </a:rPr>
              <a:t>•  To design a beginner-friendly system using Python and Flask.</a:t>
            </a:r>
            <a:endParaRPr lang="en-IN" dirty="0">
              <a:latin typeface="+mj-lt"/>
            </a:endParaRPr>
          </a:p>
        </p:txBody>
      </p:sp>
      <p:sp>
        <p:nvSpPr>
          <p:cNvPr id="17" name="TextBox 16">
            <a:extLst>
              <a:ext uri="{FF2B5EF4-FFF2-40B4-BE49-F238E27FC236}">
                <a16:creationId xmlns:a16="http://schemas.microsoft.com/office/drawing/2014/main" id="{F34BCBA0-0D3D-A8A4-DD02-B7185AB807DE}"/>
              </a:ext>
            </a:extLst>
          </p:cNvPr>
          <p:cNvSpPr txBox="1"/>
          <p:nvPr/>
        </p:nvSpPr>
        <p:spPr>
          <a:xfrm>
            <a:off x="7335487" y="3088430"/>
            <a:ext cx="4029203" cy="584775"/>
          </a:xfrm>
          <a:prstGeom prst="rect">
            <a:avLst/>
          </a:prstGeom>
          <a:noFill/>
        </p:spPr>
        <p:txBody>
          <a:bodyPr wrap="square">
            <a:spAutoFit/>
          </a:bodyPr>
          <a:lstStyle/>
          <a:p>
            <a:r>
              <a:rPr lang="en-US" sz="3200" b="1" dirty="0">
                <a:latin typeface="Calisto MT" panose="02040603050505030304" pitchFamily="18" charset="0"/>
              </a:rPr>
              <a:t>Scope of the Project</a:t>
            </a:r>
            <a:endParaRPr lang="en-IN" sz="3200" b="1" dirty="0"/>
          </a:p>
        </p:txBody>
      </p:sp>
    </p:spTree>
    <p:extLst>
      <p:ext uri="{BB962C8B-B14F-4D97-AF65-F5344CB8AC3E}">
        <p14:creationId xmlns:p14="http://schemas.microsoft.com/office/powerpoint/2010/main" val="3697338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7F69-E4D4-B4BE-1611-A3C39C32EC95}"/>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6687A629-FCD6-5BFA-61CD-A3963511EBBA}"/>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D45B07D3-AFB1-EA4B-AE47-CA85CB71FA39}"/>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A7E3D4F6-5EC3-CAA8-E96E-908328CFABAF}"/>
              </a:ext>
            </a:extLst>
          </p:cNvPr>
          <p:cNvSpPr txBox="1"/>
          <p:nvPr/>
        </p:nvSpPr>
        <p:spPr>
          <a:xfrm>
            <a:off x="986418" y="1501820"/>
            <a:ext cx="5250264" cy="830997"/>
          </a:xfrm>
          <a:prstGeom prst="rect">
            <a:avLst/>
          </a:prstGeom>
          <a:noFill/>
        </p:spPr>
        <p:txBody>
          <a:bodyPr wrap="square">
            <a:spAutoFit/>
          </a:bodyPr>
          <a:lstStyle/>
          <a:p>
            <a:r>
              <a:rPr lang="en-US" sz="2400" b="1" dirty="0">
                <a:latin typeface="+mj-lt"/>
              </a:rPr>
              <a:t>1.Home Page </a:t>
            </a:r>
            <a:r>
              <a:rPr lang="en-US" sz="2400" dirty="0">
                <a:latin typeface="+mj-lt"/>
              </a:rPr>
              <a:t>– Main menu with navigation options.</a:t>
            </a:r>
            <a:endParaRPr lang="en-IN" sz="2400" dirty="0">
              <a:latin typeface="+mj-lt"/>
            </a:endParaRPr>
          </a:p>
        </p:txBody>
      </p:sp>
      <p:pic>
        <p:nvPicPr>
          <p:cNvPr id="21" name="Picture 20">
            <a:extLst>
              <a:ext uri="{FF2B5EF4-FFF2-40B4-BE49-F238E27FC236}">
                <a16:creationId xmlns:a16="http://schemas.microsoft.com/office/drawing/2014/main" id="{EC472693-8AF9-1B97-E18E-66A10A863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7415" y="948170"/>
            <a:ext cx="6250255" cy="3830073"/>
          </a:xfrm>
          <a:prstGeom prst="rect">
            <a:avLst/>
          </a:prstGeom>
        </p:spPr>
      </p:pic>
      <p:pic>
        <p:nvPicPr>
          <p:cNvPr id="23" name="Picture 22">
            <a:extLst>
              <a:ext uri="{FF2B5EF4-FFF2-40B4-BE49-F238E27FC236}">
                <a16:creationId xmlns:a16="http://schemas.microsoft.com/office/drawing/2014/main" id="{21A20BB7-4D92-6F2D-513F-7A706563A0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944" y="2690256"/>
            <a:ext cx="6250255" cy="3830073"/>
          </a:xfrm>
          <a:prstGeom prst="rect">
            <a:avLst/>
          </a:prstGeom>
        </p:spPr>
      </p:pic>
    </p:spTree>
    <p:extLst>
      <p:ext uri="{BB962C8B-B14F-4D97-AF65-F5344CB8AC3E}">
        <p14:creationId xmlns:p14="http://schemas.microsoft.com/office/powerpoint/2010/main" val="274473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022C0-BC4B-3AB0-869B-DF408C9D38F9}"/>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12930202-1368-74AF-C611-0BEC57EE7409}"/>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0C33CDFD-10DF-9B6D-6809-2FF6290AA12E}"/>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269E6A63-8012-230A-A9C0-6C9ECD2BC7DA}"/>
              </a:ext>
            </a:extLst>
          </p:cNvPr>
          <p:cNvSpPr txBox="1"/>
          <p:nvPr/>
        </p:nvSpPr>
        <p:spPr>
          <a:xfrm>
            <a:off x="7044081" y="1230468"/>
            <a:ext cx="5250264" cy="1200329"/>
          </a:xfrm>
          <a:prstGeom prst="rect">
            <a:avLst/>
          </a:prstGeom>
          <a:noFill/>
        </p:spPr>
        <p:txBody>
          <a:bodyPr wrap="square">
            <a:spAutoFit/>
          </a:bodyPr>
          <a:lstStyle/>
          <a:p>
            <a:r>
              <a:rPr lang="en-US" sz="2400" b="1" dirty="0">
                <a:latin typeface="+mj-lt"/>
              </a:rPr>
              <a:t>2.Booking Page – </a:t>
            </a:r>
            <a:r>
              <a:rPr lang="en-US" sz="2400" dirty="0">
                <a:latin typeface="+mj-lt"/>
              </a:rPr>
              <a:t>Customer enters name, contact, Staying days, Room type and Book room</a:t>
            </a:r>
            <a:endParaRPr lang="en-IN" sz="2400" dirty="0">
              <a:latin typeface="+mj-lt"/>
            </a:endParaRPr>
          </a:p>
        </p:txBody>
      </p:sp>
      <p:pic>
        <p:nvPicPr>
          <p:cNvPr id="3" name="Picture 2">
            <a:extLst>
              <a:ext uri="{FF2B5EF4-FFF2-40B4-BE49-F238E27FC236}">
                <a16:creationId xmlns:a16="http://schemas.microsoft.com/office/drawing/2014/main" id="{559F7C40-44EF-FCF0-0692-C748FB24E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765" y="1064638"/>
            <a:ext cx="6508965" cy="3907665"/>
          </a:xfrm>
          <a:prstGeom prst="rect">
            <a:avLst/>
          </a:prstGeom>
        </p:spPr>
      </p:pic>
      <p:pic>
        <p:nvPicPr>
          <p:cNvPr id="5" name="Picture 4">
            <a:extLst>
              <a:ext uri="{FF2B5EF4-FFF2-40B4-BE49-F238E27FC236}">
                <a16:creationId xmlns:a16="http://schemas.microsoft.com/office/drawing/2014/main" id="{4312E32A-BA69-1D48-40E5-6DFF27CD9A85}"/>
              </a:ext>
            </a:extLst>
          </p:cNvPr>
          <p:cNvPicPr>
            <a:picLocks noChangeAspect="1"/>
          </p:cNvPicPr>
          <p:nvPr/>
        </p:nvPicPr>
        <p:blipFill>
          <a:blip r:embed="rId3">
            <a:extLst>
              <a:ext uri="{28A0092B-C50C-407E-A947-70E740481C1C}">
                <a14:useLocalDpi xmlns:a14="http://schemas.microsoft.com/office/drawing/2010/main" val="0"/>
              </a:ext>
            </a:extLst>
          </a:blip>
          <a:srcRect r="-2902"/>
          <a:stretch>
            <a:fillRect/>
          </a:stretch>
        </p:blipFill>
        <p:spPr>
          <a:xfrm>
            <a:off x="4853178" y="2606674"/>
            <a:ext cx="6972057" cy="4002690"/>
          </a:xfrm>
          <a:prstGeom prst="rect">
            <a:avLst/>
          </a:prstGeom>
        </p:spPr>
      </p:pic>
    </p:spTree>
    <p:extLst>
      <p:ext uri="{BB962C8B-B14F-4D97-AF65-F5344CB8AC3E}">
        <p14:creationId xmlns:p14="http://schemas.microsoft.com/office/powerpoint/2010/main" val="48815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688E5-E91D-987A-6E52-C24A1D909E86}"/>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F3A93DAF-8744-639A-A292-69B04840A2A6}"/>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866342A4-1642-482E-D5F7-0CC0AA97F1D7}"/>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0F25DA77-8951-4CA8-6107-E62FCF4C6A01}"/>
              </a:ext>
            </a:extLst>
          </p:cNvPr>
          <p:cNvSpPr txBox="1"/>
          <p:nvPr/>
        </p:nvSpPr>
        <p:spPr>
          <a:xfrm>
            <a:off x="7295288" y="1468416"/>
            <a:ext cx="5250264" cy="830997"/>
          </a:xfrm>
          <a:prstGeom prst="rect">
            <a:avLst/>
          </a:prstGeom>
          <a:noFill/>
        </p:spPr>
        <p:txBody>
          <a:bodyPr wrap="square">
            <a:spAutoFit/>
          </a:bodyPr>
          <a:lstStyle/>
          <a:p>
            <a:r>
              <a:rPr lang="en-US" sz="2400" b="1" dirty="0">
                <a:latin typeface="+mj-lt"/>
              </a:rPr>
              <a:t>3.Room Info Page – </a:t>
            </a:r>
            <a:r>
              <a:rPr lang="en-US" sz="2400" dirty="0">
                <a:latin typeface="+mj-lt"/>
              </a:rPr>
              <a:t>Shows available rooms and details.</a:t>
            </a:r>
            <a:endParaRPr lang="en-IN" sz="2400" dirty="0">
              <a:latin typeface="+mj-lt"/>
            </a:endParaRPr>
          </a:p>
        </p:txBody>
      </p:sp>
      <p:pic>
        <p:nvPicPr>
          <p:cNvPr id="4" name="Picture 3">
            <a:extLst>
              <a:ext uri="{FF2B5EF4-FFF2-40B4-BE49-F238E27FC236}">
                <a16:creationId xmlns:a16="http://schemas.microsoft.com/office/drawing/2014/main" id="{DE06D97A-AC5F-9F0B-3103-142F89CBB92E}"/>
              </a:ext>
            </a:extLst>
          </p:cNvPr>
          <p:cNvPicPr>
            <a:picLocks noChangeAspect="1"/>
          </p:cNvPicPr>
          <p:nvPr/>
        </p:nvPicPr>
        <p:blipFill>
          <a:blip r:embed="rId2">
            <a:extLst>
              <a:ext uri="{28A0092B-C50C-407E-A947-70E740481C1C}">
                <a14:useLocalDpi xmlns:a14="http://schemas.microsoft.com/office/drawing/2010/main" val="0"/>
              </a:ext>
            </a:extLst>
          </a:blip>
          <a:srcRect r="4341"/>
          <a:stretch>
            <a:fillRect/>
          </a:stretch>
        </p:blipFill>
        <p:spPr>
          <a:xfrm>
            <a:off x="402121" y="993016"/>
            <a:ext cx="6641960" cy="3943567"/>
          </a:xfrm>
          <a:prstGeom prst="rect">
            <a:avLst/>
          </a:prstGeom>
        </p:spPr>
      </p:pic>
      <p:pic>
        <p:nvPicPr>
          <p:cNvPr id="12" name="Picture 11">
            <a:extLst>
              <a:ext uri="{FF2B5EF4-FFF2-40B4-BE49-F238E27FC236}">
                <a16:creationId xmlns:a16="http://schemas.microsoft.com/office/drawing/2014/main" id="{6E052448-F5F9-FB13-E967-82816349B3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7920" y="2548928"/>
            <a:ext cx="6508966" cy="4022694"/>
          </a:xfrm>
          <a:prstGeom prst="rect">
            <a:avLst/>
          </a:prstGeom>
        </p:spPr>
      </p:pic>
    </p:spTree>
    <p:extLst>
      <p:ext uri="{BB962C8B-B14F-4D97-AF65-F5344CB8AC3E}">
        <p14:creationId xmlns:p14="http://schemas.microsoft.com/office/powerpoint/2010/main" val="602298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368E-9976-CDA9-0959-BF2CEF42B3A9}"/>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A37F7D16-7761-ACD6-11ED-081F06F15872}"/>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8DE9729E-8A72-F7E8-8CE6-6597D895450C}"/>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20B57165-50FC-8904-BB27-D496C3E5B1A5}"/>
              </a:ext>
            </a:extLst>
          </p:cNvPr>
          <p:cNvSpPr txBox="1"/>
          <p:nvPr/>
        </p:nvSpPr>
        <p:spPr>
          <a:xfrm>
            <a:off x="347740" y="1190465"/>
            <a:ext cx="5250264" cy="830997"/>
          </a:xfrm>
          <a:prstGeom prst="rect">
            <a:avLst/>
          </a:prstGeom>
          <a:noFill/>
        </p:spPr>
        <p:txBody>
          <a:bodyPr wrap="square">
            <a:spAutoFit/>
          </a:bodyPr>
          <a:lstStyle/>
          <a:p>
            <a:r>
              <a:rPr lang="en-US" sz="2400" b="1" dirty="0">
                <a:latin typeface="+mj-lt"/>
              </a:rPr>
              <a:t>4. Restaurant Order Page –</a:t>
            </a:r>
            <a:r>
              <a:rPr lang="en-US" sz="2400" dirty="0">
                <a:latin typeface="+mj-lt"/>
              </a:rPr>
              <a:t> Customer orders food items</a:t>
            </a:r>
            <a:endParaRPr lang="en-IN" sz="2400" dirty="0">
              <a:latin typeface="+mj-lt"/>
            </a:endParaRPr>
          </a:p>
        </p:txBody>
      </p:sp>
      <p:pic>
        <p:nvPicPr>
          <p:cNvPr id="7" name="Picture 6">
            <a:extLst>
              <a:ext uri="{FF2B5EF4-FFF2-40B4-BE49-F238E27FC236}">
                <a16:creationId xmlns:a16="http://schemas.microsoft.com/office/drawing/2014/main" id="{1EB27240-EAFD-2864-E216-5A1C2391698D}"/>
              </a:ext>
            </a:extLst>
          </p:cNvPr>
          <p:cNvPicPr>
            <a:picLocks noChangeAspect="1"/>
          </p:cNvPicPr>
          <p:nvPr/>
        </p:nvPicPr>
        <p:blipFill>
          <a:blip r:embed="rId2">
            <a:extLst>
              <a:ext uri="{28A0092B-C50C-407E-A947-70E740481C1C}">
                <a14:useLocalDpi xmlns:a14="http://schemas.microsoft.com/office/drawing/2010/main" val="0"/>
              </a:ext>
            </a:extLst>
          </a:blip>
          <a:srcRect l="-1136" t="-67" r="4030" b="67"/>
          <a:stretch>
            <a:fillRect/>
          </a:stretch>
        </p:blipFill>
        <p:spPr>
          <a:xfrm>
            <a:off x="5188300" y="845437"/>
            <a:ext cx="6858975" cy="4435091"/>
          </a:xfrm>
          <a:prstGeom prst="rect">
            <a:avLst/>
          </a:prstGeom>
        </p:spPr>
      </p:pic>
      <p:pic>
        <p:nvPicPr>
          <p:cNvPr id="16" name="Picture 15">
            <a:extLst>
              <a:ext uri="{FF2B5EF4-FFF2-40B4-BE49-F238E27FC236}">
                <a16:creationId xmlns:a16="http://schemas.microsoft.com/office/drawing/2014/main" id="{B0F01880-355A-56E5-395A-3DDCCABC9EFE}"/>
              </a:ext>
            </a:extLst>
          </p:cNvPr>
          <p:cNvPicPr>
            <a:picLocks noChangeAspect="1"/>
          </p:cNvPicPr>
          <p:nvPr/>
        </p:nvPicPr>
        <p:blipFill>
          <a:blip r:embed="rId3">
            <a:extLst>
              <a:ext uri="{28A0092B-C50C-407E-A947-70E740481C1C}">
                <a14:useLocalDpi xmlns:a14="http://schemas.microsoft.com/office/drawing/2010/main" val="0"/>
              </a:ext>
            </a:extLst>
          </a:blip>
          <a:srcRect l="3133" r="3546"/>
          <a:stretch>
            <a:fillRect/>
          </a:stretch>
        </p:blipFill>
        <p:spPr>
          <a:xfrm>
            <a:off x="185105" y="2468427"/>
            <a:ext cx="6227611" cy="4103195"/>
          </a:xfrm>
          <a:prstGeom prst="rect">
            <a:avLst/>
          </a:prstGeom>
        </p:spPr>
      </p:pic>
    </p:spTree>
    <p:extLst>
      <p:ext uri="{BB962C8B-B14F-4D97-AF65-F5344CB8AC3E}">
        <p14:creationId xmlns:p14="http://schemas.microsoft.com/office/powerpoint/2010/main" val="868367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27B6E-B95F-B121-21A7-A059963529F3}"/>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A210C78E-777A-CD91-F879-CB246627F4DD}"/>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EB831A59-ADF8-9558-AD7D-E272EE4E3C68}"/>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5C67F44E-3393-91A7-4F37-9B5BCD2DFD2D}"/>
              </a:ext>
            </a:extLst>
          </p:cNvPr>
          <p:cNvSpPr txBox="1"/>
          <p:nvPr/>
        </p:nvSpPr>
        <p:spPr>
          <a:xfrm>
            <a:off x="6702058" y="987168"/>
            <a:ext cx="5250264" cy="830997"/>
          </a:xfrm>
          <a:prstGeom prst="rect">
            <a:avLst/>
          </a:prstGeom>
          <a:noFill/>
        </p:spPr>
        <p:txBody>
          <a:bodyPr wrap="square">
            <a:spAutoFit/>
          </a:bodyPr>
          <a:lstStyle/>
          <a:p>
            <a:r>
              <a:rPr lang="en-US" sz="2400" b="1" dirty="0">
                <a:latin typeface="+mj-lt"/>
              </a:rPr>
              <a:t>5. Payment Page – </a:t>
            </a:r>
            <a:r>
              <a:rPr lang="en-US" sz="2400" dirty="0">
                <a:latin typeface="+mj-lt"/>
              </a:rPr>
              <a:t>Displays total bill and accepts payment.</a:t>
            </a:r>
            <a:endParaRPr lang="en-IN" sz="2400" dirty="0">
              <a:latin typeface="+mj-lt"/>
            </a:endParaRPr>
          </a:p>
        </p:txBody>
      </p:sp>
      <p:pic>
        <p:nvPicPr>
          <p:cNvPr id="3" name="Picture 2">
            <a:extLst>
              <a:ext uri="{FF2B5EF4-FFF2-40B4-BE49-F238E27FC236}">
                <a16:creationId xmlns:a16="http://schemas.microsoft.com/office/drawing/2014/main" id="{E4FFB560-BA02-7CFB-293D-1809D62E6C08}"/>
              </a:ext>
            </a:extLst>
          </p:cNvPr>
          <p:cNvPicPr>
            <a:picLocks noChangeAspect="1"/>
          </p:cNvPicPr>
          <p:nvPr/>
        </p:nvPicPr>
        <p:blipFill>
          <a:blip r:embed="rId2">
            <a:extLst>
              <a:ext uri="{28A0092B-C50C-407E-A947-70E740481C1C}">
                <a14:useLocalDpi xmlns:a14="http://schemas.microsoft.com/office/drawing/2010/main" val="0"/>
              </a:ext>
            </a:extLst>
          </a:blip>
          <a:srcRect r="4808"/>
          <a:stretch>
            <a:fillRect/>
          </a:stretch>
        </p:blipFill>
        <p:spPr>
          <a:xfrm>
            <a:off x="320990" y="892168"/>
            <a:ext cx="6160196" cy="3900896"/>
          </a:xfrm>
          <a:prstGeom prst="rect">
            <a:avLst/>
          </a:prstGeom>
        </p:spPr>
      </p:pic>
      <p:pic>
        <p:nvPicPr>
          <p:cNvPr id="5" name="Picture 4">
            <a:extLst>
              <a:ext uri="{FF2B5EF4-FFF2-40B4-BE49-F238E27FC236}">
                <a16:creationId xmlns:a16="http://schemas.microsoft.com/office/drawing/2014/main" id="{FCB4329D-DDD2-571E-AB24-E07606FC88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6365" y="2001546"/>
            <a:ext cx="6659636" cy="4307101"/>
          </a:xfrm>
          <a:prstGeom prst="rect">
            <a:avLst/>
          </a:prstGeom>
        </p:spPr>
      </p:pic>
    </p:spTree>
    <p:extLst>
      <p:ext uri="{BB962C8B-B14F-4D97-AF65-F5344CB8AC3E}">
        <p14:creationId xmlns:p14="http://schemas.microsoft.com/office/powerpoint/2010/main" val="28955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D862A-B37A-013D-A4A8-66522CCE6319}"/>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DF03A3DB-2823-EE7E-7F89-DB32F7506EF1}"/>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B82E46EE-C514-0711-1E25-A33817E3F435}"/>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83883550-E0DF-95DE-EDA7-D4EA65E86B4F}"/>
              </a:ext>
            </a:extLst>
          </p:cNvPr>
          <p:cNvSpPr txBox="1"/>
          <p:nvPr/>
        </p:nvSpPr>
        <p:spPr>
          <a:xfrm>
            <a:off x="6792490" y="987168"/>
            <a:ext cx="5250264" cy="830997"/>
          </a:xfrm>
          <a:prstGeom prst="rect">
            <a:avLst/>
          </a:prstGeom>
          <a:noFill/>
        </p:spPr>
        <p:txBody>
          <a:bodyPr wrap="square">
            <a:spAutoFit/>
          </a:bodyPr>
          <a:lstStyle/>
          <a:p>
            <a:r>
              <a:rPr lang="en-US" sz="2400" b="1" dirty="0">
                <a:latin typeface="+mj-lt"/>
              </a:rPr>
              <a:t>6.Thank You Page –</a:t>
            </a:r>
            <a:r>
              <a:rPr lang="en-US" sz="2400" dirty="0">
                <a:latin typeface="+mj-lt"/>
              </a:rPr>
              <a:t> Confirms successful booking and food order.</a:t>
            </a:r>
            <a:endParaRPr lang="en-IN" sz="2400" dirty="0">
              <a:latin typeface="+mj-lt"/>
            </a:endParaRPr>
          </a:p>
        </p:txBody>
      </p:sp>
      <p:pic>
        <p:nvPicPr>
          <p:cNvPr id="4" name="Picture 3">
            <a:extLst>
              <a:ext uri="{FF2B5EF4-FFF2-40B4-BE49-F238E27FC236}">
                <a16:creationId xmlns:a16="http://schemas.microsoft.com/office/drawing/2014/main" id="{635E4497-D2BC-A346-09B5-CCEFF34B9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896" y="937478"/>
            <a:ext cx="6134221" cy="3915625"/>
          </a:xfrm>
          <a:prstGeom prst="rect">
            <a:avLst/>
          </a:prstGeom>
        </p:spPr>
      </p:pic>
      <p:pic>
        <p:nvPicPr>
          <p:cNvPr id="12" name="Picture 11">
            <a:extLst>
              <a:ext uri="{FF2B5EF4-FFF2-40B4-BE49-F238E27FC236}">
                <a16:creationId xmlns:a16="http://schemas.microsoft.com/office/drawing/2014/main" id="{AE63B8FA-22E4-45BA-959C-5FAEB5FC1B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7751" y="2035838"/>
            <a:ext cx="6768797" cy="4185581"/>
          </a:xfrm>
          <a:prstGeom prst="rect">
            <a:avLst/>
          </a:prstGeom>
        </p:spPr>
      </p:pic>
    </p:spTree>
    <p:extLst>
      <p:ext uri="{BB962C8B-B14F-4D97-AF65-F5344CB8AC3E}">
        <p14:creationId xmlns:p14="http://schemas.microsoft.com/office/powerpoint/2010/main" val="969984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Industrial Preliminary Project by Slidesgo</Template>
  <TotalTime>570</TotalTime>
  <Words>458</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Calisto MT</vt:lpstr>
      <vt:lpstr>Office Theme</vt:lpstr>
      <vt:lpstr>Diksha patil  Roll no : CC29</vt:lpstr>
      <vt:lpstr>Abstract</vt:lpstr>
      <vt:lpstr>Problem Definition</vt:lpstr>
      <vt:lpstr>Objective</vt:lpstr>
      <vt:lpstr>Flow of the Project</vt:lpstr>
      <vt:lpstr>Flow of the Project</vt:lpstr>
      <vt:lpstr>Flow of the Project</vt:lpstr>
      <vt:lpstr>Flow of the Project</vt:lpstr>
      <vt:lpstr>Flow of the Project</vt:lpstr>
      <vt:lpstr>Flow of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KHAIRNAR</dc:creator>
  <cp:lastModifiedBy>ANJALI KHAIRNAR</cp:lastModifiedBy>
  <cp:revision>2</cp:revision>
  <dcterms:created xsi:type="dcterms:W3CDTF">2025-10-11T14:10:00Z</dcterms:created>
  <dcterms:modified xsi:type="dcterms:W3CDTF">2025-10-14T14:45:46Z</dcterms:modified>
</cp:coreProperties>
</file>